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首頁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納瓦爾工作坊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840480"/>
            <a:ext cx="9235440" cy="914400"/>
          </a:xfrm>
          <a:prstGeom prst="roundRect">
            <a:avLst/>
          </a:prstGeom>
          <a:solidFill>
            <a:srgbClr val="0C3258"/>
          </a:solidFill>
          <a:ln w="1524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406908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E9B627"/>
                </a:solidFill>
                <a:latin typeface="Noto Serif TC"/>
                <a:ea typeface="Noto Serif TC"/>
                <a:cs typeface="Noto Serif TC"/>
              </a:rPr>
              <a:t>保險不是你的身分，是你的商業模式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9834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CCB"/>
                </a:solidFill>
                <a:latin typeface="Noto Sans TC"/>
                <a:ea typeface="Noto Sans TC"/>
                <a:cs typeface="Noto Sans TC"/>
              </a:rPr>
              <a:t>NAVAL RAVIKANT · 個人商品化工作坊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CCB"/>
                </a:solidFill>
                <a:latin typeface="Noto Sans TC"/>
                <a:ea typeface="Noto Sans TC"/>
                <a:cs typeface="Noto Sans TC"/>
              </a:rPr>
              <a:t>主標：納瓦爾工作坊　｜　Productize Yourself · Design Your Life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CCB"/>
                </a:solidFill>
                <a:latin typeface="Noto Sans TC"/>
                <a:ea typeface="Noto Sans TC"/>
                <a:cs typeface="Noto Sans TC"/>
              </a:rPr>
              <a:t>保險不是你的身分，是你的商業模式。這場工作坊，帶領你走向納瓦爾的致富之道。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首頁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主視覺公式：個人商品力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個人商品力是一道可拆解、可複利的公式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公式：個人商品力 ＝ ［ ( 獨特性 × 特定知識 ) × 當責 × 槓桿 ］^（時間複利 × 造運引擎）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獨特性 → 只有你的人生組合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特定知識 → AI 取代不了的能力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當責 → 以真名承擔風險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槓桿 → 勞動／資本／程式／媒體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時間複利 → 一切回報來自複利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造運引擎 → 讓幸運主動找上你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首頁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五個數字看懂今天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用五個數字定錨整場工作坊的份量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39 — 納瓦爾金句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6 — 工作坊部曲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21 — 天行動挑戰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11 — 核心公式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∞ — 複利成長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首頁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六部曲路線圖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一條把自己變成品牌的生產線，每一站都帶得走一個工具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① 39 條金句 — 中英對照＋書庫＋名人跨作者註解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② 孟修 WIKI 大腦 — 把一本書讀進第二大腦，四工具一條生產線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③ 為什麼是工作坊 — 教就是最好的學習，做比學重要，五個理由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④ 造運引擎 — Λ 造運公式＋破冰遊戲，讓幸運主動找上你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⑤ 將自己商品化 — 六模組互動工作簿，當場產出定位與增員系統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⑥ 顧問團 — 結業小結＋召喚隨身 AI 顧問團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首頁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帶回家的四件練功器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工作坊之外，四件可帶走的加碼工具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🔥 21 天挑戰 — 三階段把自己產品化，每天 30 分鐘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⏳ 時間槓桿 — 判斷力 × 複利，時間投資組合矩陣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📚 圖書館 — 經典的書／影片／Podcast 資源地圖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📋 使用手冊 — 個人產品化行動清單，逐項打勾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首頁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底座經典：七本書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整場工作坊站在七本經典的肩膀上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📘 納瓦爾寶典　📗 做自己的生命設計師　📕 致富心態　📙 底層邏輯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📓 低風險創業　📒 一人公司　📔 反脆弱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首頁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每日金句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找到「於你像玩、於別人像工作」的那件事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「建立特定知識時，於你像玩、於別人像工作。」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— Naval Ravikant · How to Get Rich 推文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PART I 39 條金句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840480"/>
            <a:ext cx="9235440" cy="914400"/>
          </a:xfrm>
          <a:prstGeom prst="roundRect">
            <a:avLst/>
          </a:prstGeom>
          <a:solidFill>
            <a:srgbClr val="0C3258"/>
          </a:solidFill>
          <a:ln w="1524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406908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E9B627"/>
                </a:solidFill>
                <a:latin typeface="Noto Serif TC"/>
                <a:ea typeface="Noto Serif TC"/>
                <a:cs typeface="Noto Serif TC"/>
              </a:rPr>
              <a:t>納瓦爾《How to Get Rich》原始推文串，完整 39 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9834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CCB"/>
                </a:solidFill>
                <a:latin typeface="Noto Sans TC"/>
                <a:ea typeface="Noto Sans TC"/>
                <a:cs typeface="Noto Sans TC"/>
              </a:rPr>
              <a:t>納瓦爾 2018-05-31《How to Get Rich (without getting lucky)》原始推文串，完整 39 條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CCB"/>
                </a:solidFill>
                <a:latin typeface="Noto Sans TC"/>
                <a:ea typeface="Noto Sans TC"/>
                <a:cs typeface="Noto Sans TC"/>
              </a:rPr>
              <a:t>點任何一句，都有中英對照、四來源定位，以及跨作者註解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CCB"/>
                </a:solidFill>
                <a:latin typeface="Noto Sans TC"/>
                <a:ea typeface="Noto Sans TC"/>
                <a:cs typeface="Noto Sans TC"/>
              </a:rPr>
              <a:t>原文：nav.al/rich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〔補〕How to Get Rich 的由來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4 天 1.4 萬轉推、5 萬讚——一串推文長成一套致富數學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2018/5/31 納瓦爾在 Twitter 連發 40 條推文，標題「怎麼致富，不需要靠運氣」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4 天累積 1.4 萬轉推、5 萬讚；後錄成 podcast 共 8 集、3 小時 35 分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「它不像勵志書——它像數學公式。每聽一次，理解都更深一層。」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分類一 · 財富觀 · 股權（金句 1–5）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先搞懂財富的定義與股權思維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涵蓋金句 1–5：財富本質、道德、地位遊戲、股權、規模化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#1 · 追求財富，而非金錢或地位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財富是睡覺時仍替你賺錢的資產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中：追求財富，而非金錢或地位。財富＝睡覺時仍替你賺錢的資產；金錢＝轉移時間與財富的媒介；地位＝社會階層位置。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英：Seek wealth, not money or status. Wealth is having assets that earn while you sleep.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#2 · 合乎道德的財富創造是可能的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暗暗鄙視財富，財富就會躲著你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中：要理解——合乎道德的財富創造是可能的。如果你內心暗暗鄙視財富，財富就會躲著你。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英：Understand that ethical wealth creation is possible. If you secretly despise wealth, it will elude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#3 · 忽略玩「地位遊戲」的人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地位玩家靠攻擊財富創造者取得地位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中：別理會玩「地位遊戲」的人。他們靠攻擊正在創造財富的人來取得地位。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英：Ignore people playing status games. They gain status by attacking people playing wealth creation games.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#4 · 出租時間不會致富，要擁有股權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必須擁有一間事業的一部分，才有財務自由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中：出租你的時間，不會致富。你必須擁有股權——一間事業的一部分——才能換得財務自由。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英：You're not going to get rich renting out your time. You must own equity to gain financial freedom.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#5 · 給社會它想要、卻還不知如何取得的東西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滿足未被滿足的需求，並且規模化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中：你會因為「給社會它想要、卻還不知道如何取得的東西」而致富。而且要規模化。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英：You will get rich by giving society what it wants but does not yet know how to get. At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分類二 · 幸運 · 長期複利（金句 6–8）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跟長期的人玩長期遊戲，回報來自複利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涵蓋金句 6–8：長期遊戲、職涯空間、迭代與複利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#6 · 跟長期的人玩長期遊戲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選一個能玩長期遊戲的產業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中：挑一個能讓你跟「長期的人」一起玩「長期遊戲」的產業。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英：Pick an industry where you can play long term games with long term people.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#7 · 網路大幅拓寬了職涯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網路打開新職涯空間，多數人還沒想通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中：網際網路已大幅拓寬職涯的可能空間，只是多數人還沒想通這一點。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英：The Internet has massively broadened the possible space of careers. Most people haven't figured this out yet.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#8 · 玩迭代遊戲，回報來自複利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財富、關係、知識的回報全來自複利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中：玩會重複迭代的遊戲。人生所有回報——財富、關係、知識——都來自複利。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英：Play iterated games. All the returns in life come from compound interest.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分類三 · 夥伴 · 銷售（金句 9–11）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跟對人、不跟悲觀者，並學會銷售與打造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涵蓋金句 9–11：挑夥伴、避開悲觀者、銷售＋打造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#9 · 挑智慧、能量、正直的夥伴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三角篩選器，正直最重要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中：挑選具備高智慧、高能量，尤其是高正直的事業夥伴。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英：Pick business partners with high intelligence, energy, and, above all, integrity.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#10 · 別跟悲觀者合夥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悲觀者的信念會自我實現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中：別跟憤世嫉俗者和悲觀主義者合夥。他們的信念會自我實現。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英：Don't partner with cynics and pessimists. Their beliefs are self-fulfilling.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#11 · 學會銷售，學會打造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兼備銷售與打造，你將無可阻擋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中：學會銷售，學會打造。兩者兼備，你將無可阻擋。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英：Learn to sell. Learn to build. If you can do both, you will be unstoppable.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分類四 · 專屬知識（金句 12–17）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找到別人複製不了、無法被訓練的那種知識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涵蓋金句 12–17：專屬知識的定義、來源、特質與傳授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#12 · 用專屬知識、當責、槓桿武裝自己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三樣東西武裝自己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中：用三樣東西武裝自己：專屬知識、當責、槓桿。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英：Arm yourself with specific knowledge, accountability, and leverage.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#13 · 專屬知識無法被訓練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能被社會訓練的，就能被取代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中：專屬知識，是你無法被「訓練」出來的知識。社會若能訓練你，就能訓練別人取代你。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英：Specific knowledge is knowledge that you cannot be trained for. If society can train you, it can replace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#14 · 專屬知識靠追隨好奇與熱情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追真好奇，而非追熱門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中：專屬知識，靠追隨你真正的好奇與熱情找到，而非追逐當下最熱門的東西。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英：Specific knowledge is found by pursuing your genuine curiosity and passion rather than whatever is hot.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#15 · 於你像玩、於人像工作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你覺得在玩，別人看起來像工作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中：建立專屬知識時，你會覺得像在玩，別人看起來卻像在工作。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英：Building specific knowledge will feel like play to you but will look like work to others.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#16 · 專屬知識靠師徒制傳授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要傳授靠師徒制，不是學校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中：專屬知識若要傳授，是透過師徒制，而非學校。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英：When specific knowledge is taught, it's through apprenticeships, not schools.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#17 · 高技術或高創造，無法外包自動化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外包與自動化都複製不了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中：專屬知識往往高度技術性或高度創造性，無法被外包或自動化。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英：Specific knowledge is often highly technical or creative. It cannot be outsourced or automated.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分類五 · 當責 · 槓桿（金句 18–27）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以己之名承擔風險，再裝上四種槓桿放大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涵蓋金句 18–27：當責、個人品牌、四種槓桿（資本／人力／程式／媒體）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#18 · 擁抱當責、以己之名承擔風險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社會用責任、股權、槓桿回報擔風險的人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中：擁抱當責，以自己的名義承擔商業風險。社會會用責任、股權與槓桿回報你。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英：Embrace accountability, and take business risks under your own name. Society will reward you with responsibility, equity, and leverage.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#19 · 最有當責的人，品牌單一、公開、高風險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單一、公開且高風險的個人品牌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中：最有當責的人，都擁有單一、公開且高風險的個人品牌：歐普拉、川普、肯伊、馬斯克。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英：The most accountable people have singular, public, and risky brands.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#20 · 阿基米德的槓桿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給我支點與槓桿，我能撬動地球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中：「給我一根夠長的槓桿和一個支點，我就能撬動整個地球。」——阿基米德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英："Give me a lever long enough, and a place to stand, and I will move the earth." —Archimedes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#21 · 財富需要槓桿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商業槓桿來自資本、人力、零邊際成本的程式與媒體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中：財富累積需要槓桿。商業槓桿來自三種：資本、人力，以及「複製邊際成本為零」的產品（程式與媒體）。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英：Fortunes require leverage. Business leverage comes from capital, people, and products with no marginal cost of replication.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#22 · 資本：用專屬知識＋當責＋判斷去募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靠專屬知識、當責、好判斷募到錢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中：資本就是錢。要募到錢，運用你的專屬知識、展現當責，並拿出隨之而來的好判斷。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英：Capital means money. To raise money, apply your specific knowledge, with accountability, and show good judgment.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#23 · 人力：最古老、最多人爭奪的槓桿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別把人生浪費在追逐人力槓桿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中：人力，是替你工作的人。這是最古老、最多人爭奪的槓桿。它能讓你父母刮目相看，但別把人生浪費在追逐它。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英：Labor is the oldest and most fought-over form of leverage. It will impress your parents, but don't waste your life chasing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#24 · 資本與人力是「需要許可」的槓桿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資本要人給、領導要人追隨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中：資本與人力是「需要許可」的槓桿。人人追資本，但總得有人給你；人人想領導，但總得有人追隨你。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英：Capital and labor are permissioned leverage. Everyone is chasing capital, but someone has to give it to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#25 · 程式與媒體是「不需許可」的槓桿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新富階級背後的零許可槓桿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中：程式與媒體是「不需許可」的槓桿，是新富階級背後的槓桿。你可以打造在你睡覺時仍替你工作的軟體與媒體。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英：Code and media are permissionless leverage—the leverage behind the newly rich.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#26 · 一支免費的機器人大軍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免費的運算大軍，等你善用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中：一支機器人大軍正免費供你使用——它們只是被塞進資料中心裡以節省散熱與空間。善用它。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英：An army of robots is freely available—it's just packed in data centers for heat and space efficiency.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#27 · 不會寫程式，就寫作、錄影音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媒體槓桿人人可上手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中：如果你不會寫程式，那就寫書、寫部落格，錄影片、錄 podcast。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英：If you can't code, write books and blogs, record videos and podcasts.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分類六 · 判斷 · 時間 · 努力（金句 28–36）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判斷力是槓桿的乘數，時間與努力要用對地方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涵蓋金句 28–36：判斷力、基礎學科、時間管理、努力方向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#28 · 槓桿是判斷力的力量倍增器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判斷力被槓桿放大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中：槓桿，是你判斷力的「力量倍增器」。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英：Leverage is a force multiplier for your judgement.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#29 · 判斷力可靠基礎學科加速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用基礎學科加速判斷力養成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中：判斷力需要經驗，但可以靠學習基礎學科來加速建立。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英：Judgement requires experience, but can be built faster by learning foundational skills.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#30 · 沒有一種技能叫「商業」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別學「商業」，避開商業雜誌與課程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中：世上沒有一種技能叫「商業」。避開商業雜誌和商業課程。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英：There is no skill called "business." Avoid business magazines and business classes.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#31 · 該研究的基礎學科清單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個經、賽局、心理、說服、倫理、數學、電腦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中：去研究：個體經濟學、賽局理論、心理學、說服、倫理學、數學，以及電腦。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英：Study microeconomics, game theory, psychology, persuasion, ethics, mathematics, and computers.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#32 · 閱讀比聽快，動手比看快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主動讀與做，勝過被動聽與看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中：閱讀比聽講快，動手做比看別人做快。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英：Reading is faster than listening. Doing is faster than watching.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#33 · 忙到沒空喝咖啡，但行事曆清爽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對淺薄事務說不，留白給深度工作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中：你應該忙到沒空「喝咖啡聊天」，但同時保持行事曆的清爽。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英：You should be too busy to "do coffee," while still keeping an uncluttered calendar.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#34 · 設定並執行「理想個人時薪」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低於時薪的事，外包掉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中：設定並嚴格執行一個「理想個人時薪」。若外包一件事的成本低於你的時薪，就外包它。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英：Set and enforce an aspirational personal hourly rate. If outsourcing costs less than your hourly rate, outsource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#35 · 跟誰、做什麼，比多努力更重要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選對人與事，比努力程度更關鍵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中：盡你所能努力工作。儘管「跟誰工作、做什麼」比「多努力」更重要。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英：Work as hard as you can. Even though who you work with and what you work on matter more than how hard.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#36 · 成為世界第一，並不斷重新定義你做的事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重新定義你做的事，直到你是世界第一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中：成為你所做之事的世界第一。並不斷重新定義你做的事，直到這成為事實。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英：Become the best in the world at what you do. Keep redefining what you do until this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分類七 · 財富終局（金句 37–39）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沒有快速致富，而富有也不是終點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涵蓋金句 37–39：沒有捷徑、終得應得、富有之後通往幸福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#37 · 沒有快速致富的撇步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快速致富只是別人從你身上致富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中：世上沒有快速致富的撇步。那只是別人在從你身上致富。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英：There are no get rich quick schemes. That's just someone else getting rich off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#38 · 專屬知識＋槓桿，終得你應得的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專屬知識加槓桿，最終得到應得的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中：運用專屬知識，加上槓桿，最終你會得到你應得的。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英：Apply specific knowledge, with leverage, and eventually you will get what you deserve.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 #39 · 富有，不是你真正追求的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致富是橋，幸福才是彼岸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中：當你終於變得富有，你會發現這從來不是你真正追求的東西。但那是改天的話題了。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英：When you're finally wealthy, you'll realize that it wasn't what you were seeking. But that's for another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扛霸子金句牆：開場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學員自己也寫下了一整面牆的金句——熱情都在，缺的是嫁接到增員的方法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🧱 扛霸子金句牆 — Vol-01 課前問卷 22 位學員原話（匿名）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納瓦爾的金句之外，這群學員也寫下了一整面牆。你會發現——熱情明明都在，缺的只是把它嫁接到增員的方法。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金句牆 · 增員觀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增員不是聽抱怨者的話，而是淬鍊用錢解決不了的能力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這些抱怨組織不好發展的人，都是有結果、發展好的人嗎？如果不是，為什麼要去聽信他們的話？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如果用錢能解決的能力，那就不值錢；商場上較勁的，都是用錢解決不了的能力。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你現在有體力做現在的工作，到 50 歲還會有體力嗎？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人人都有發展的潛能和慾望。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金句牆 · 天賦 · 產品化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把自己與專業變成可複製、可交付的產品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我是「人」的專業的產品。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我已經橋接起來了——旗下子弟兵每半個月收到我的程式更新檔，變成他們銷售的利器。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公司最強的是軟體——站在客戶的立場。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金句牆 · 覺醒 · 自省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方向錯了、太重業務輕帶人，才導致發展遲緩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方向完全錯誤，把太多時間都花在業務上，導致發展遲緩。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團隊的夥伴陸續走到一個都不剩——當時覺得帶人好浪費時間，還不如做個績就好。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開不了路，是因為不夠想要、目標不夠清楚、沒有找到可以著力的點。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金句牆 · 承諾 · 目標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把目標公開化、數字化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我願意公開承諾：上任執處，十年內成立三個營業處。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3 年分兩處，5 年分四處，人力破千人。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沒有賺不到的錢，只有賺不到能力範圍的錢。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金句牆 · 初心 · 使命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保險的價值在事前移轉風險、在理賠時被看見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「你們並不有錢」，卻可以讓孩子住進 VIP 病房、給孩子最好的治療。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保險經紀人是保險醫師、保險律師；事前移轉風險，比事後彌補更有效能。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也許房子不會失火，也許一輩子不會住院，但人一定會死一次。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保險是助人豐己的事業，但唯有發生理賠時，才真正看到它的價值。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那份被支持、信任的感動，讓我一輩子記得。（同學車禍前堅持向菜鳥的他投保）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金句牆 · 給未來的自己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相信自己做得到，追求內外兼具的自由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天將降大任於斯人也，老天爺也會給你對等的禮物。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真正的自由，不只是外在，更是內在的心靈與靈魂自由。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無論現況如何……你做得到！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做不好保險，大不了回去洗碗。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一手爛牌的人：納瓦爾是誰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一手爛牌，照樣打成矽谷最有影響力的天使投資人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1974 年生於印度新德里。9 歲那年母親帶他跟哥哥身無分文移民紐約。父親藥劑師文憑不被承認，只能去五金行打工；父母在他國中時離婚。內向的他下課就鑽圖書館。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一手爛牌——但 40 歲時，他已是矽谷最有影響力的天使投資人之一，投了 Uber、Twitter、Notion 等 200 多家、70+ 成功出場，並創辦 AngelList。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被封為「哲學家投資人」——不講估值模型，講特定知識、槓桿、當責、四種幸運。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〔補〕納瓦爾的開場故事（Hook）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先講一個「一手爛牌」的故事，再揭名字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「有一個人，1974 年生在印度新德里。9 歲那年，媽媽帶著他跟哥哥，身無分文搬到美國紐約。」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「爸爸的藥劑師文憑美國不承認，只能去五金行打工。家裡窮到付不出帳單，父母在他國中時離婚。」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〔停頓〕「你會說，這個人一手爛牌對不對？」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〔翻轉〕「但他 40 歲時已是矽谷最有影響力的天使投資人，投了 200 多家、70 家出場、10 多家獨角獸，創辦 AngelList。他叫 Naval Ravikant。」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 · 39 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〔補〕納瓦爾寶典的由來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他不寫書，粉絲幫他編，還說知識應該免費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《納瓦爾寶典》不是他自己寫的，是粉絲 Eric Jorgenson 花數年把他的推文／Podcast／訪談重編成書，2020 出版，分「致富」＋「快樂」兩主軸。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他在序言說：「這本書可以免費下載 PDF，因為知識應該是免費的。」（navalmanack.com）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II · 孟修 WIKI 大腦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PART II 孟修 WIKI 大腦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840480"/>
            <a:ext cx="9235440" cy="914400"/>
          </a:xfrm>
          <a:prstGeom prst="roundRect">
            <a:avLst/>
          </a:prstGeom>
          <a:solidFill>
            <a:srgbClr val="0C3258"/>
          </a:solidFill>
          <a:ln w="1524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406908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E9B627"/>
                </a:solidFill>
                <a:latin typeface="Noto Serif TC"/>
                <a:ea typeface="Noto Serif TC"/>
                <a:cs typeface="Noto Serif TC"/>
              </a:rPr>
              <a:t>不是讀完一本書，是把它一道道工序煉進第二大腦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9834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CCB"/>
                </a:solidFill>
                <a:latin typeface="Noto Sans TC"/>
                <a:ea typeface="Noto Sans TC"/>
                <a:cs typeface="Noto Sans TC"/>
              </a:rPr>
              <a:t>「我不是『讀完』一本書——是把它一道一道工序，煉進大腦。把一本電子書，變成一張會自己生長的知識網。」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II · 孟修 WIKI 大腦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開場動畫：把一本書讀進「第二大腦」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約 70 秒去品牌動畫，直觀演示一本書如何被讀進第二大腦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🎬 動畫：把一本書讀進「第二大腦」，約 70 秒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嵌入檔：opening/2026-06-09-孟修讀書法-開場動畫.html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II · 孟修 WIKI 大腦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四個工具，一條生產線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四個工具各司其職，串成一條把書變知識的生產線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🤖 Claude Code｜編譯·萃取：把對話與素材編譯成有來源、有連結的 wiki 卡片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🔗 Obsidian｜知識網載體：每張卡片用 [[雙向連結]] 長成一張會生長的網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🎧 NotebookLM｜深度研讀：把長文本變成雙人對談、心智圖、重點摘要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🔍 Gemini｜混合查詢：跨來源追問、過濾，逼出一本書真正的重點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II · 孟修 WIKI 大腦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六個步驟（上）：選取 → 地圖 → 進料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先讓書「可被選取」，再建地圖，再倒進進料口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① 先買電子書：紙本舒服卻餵不進 AI。一律先買電子書，可劃線、可複製、可整本丟給工具。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② 看過、聽過相關說書：動手前先建地圖，用別人的廣度快速抓骨架、金句與爭點。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③ 把素材餵進工具：電子書內文＋說書筆記，全部倒進 raw 原始層——大腦的「進料口」。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II · 孟修 WIKI 大腦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六個步驟（下）：審問 → 萃取 → 跨界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主動審問這本書、萃取成卡片、再連到自己的一生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④ 跟 AI 對話問出精華：用 Gemini 跨來源查詢、NotebookLM 深度對談。不是被動讀，是主動「審問」。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⑤ 用 Claude Code 萃取成卡片：自動生成有 frontmatter、有來源、有 [[連結]] 的 wiki 卡片。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⑥ 跨界理解：同一個概念，連到別的作者、別的領域、自己的一生。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II · 孟修 WIKI 大腦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跨界示範：以「槓桿」一個概念為例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一個概念連起四個領域、十位作者和自己的人生，這就是跨界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納瓦爾：沒有槓桿，你永遠在用時間換錢。四種槓桿——勞動、資本、程式碼、媒體——後兩種零邊際成本。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但同一個「槓桿」，連到特定知識、連到永久遊戲，更連到我自己的人生：程式碼槓桿、媒體槓桿、還有保險增員。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一個概念，連起四個領域、十位作者、和我的一生——這就是跨界。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III · 為什麼工作坊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PART III 為什麼是工作坊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840480"/>
            <a:ext cx="9235440" cy="914400"/>
          </a:xfrm>
          <a:prstGeom prst="roundRect">
            <a:avLst/>
          </a:prstGeom>
          <a:solidFill>
            <a:srgbClr val="0C3258"/>
          </a:solidFill>
          <a:ln w="1524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406908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E9B627"/>
                </a:solidFill>
                <a:latin typeface="Noto Serif TC"/>
                <a:ea typeface="Noto Serif TC"/>
                <a:cs typeface="Noto Serif TC"/>
              </a:rPr>
              <a:t>讀書會讓你「聽懂」，工作坊讓你「帶走」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9834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CCB"/>
                </a:solidFill>
                <a:latin typeface="Noto Sans TC"/>
                <a:ea typeface="Noto Sans TC"/>
                <a:cs typeface="Noto Sans TC"/>
              </a:rPr>
              <a:t>「讀書會讓你聽懂，工作坊讓你帶走。為什麼扛霸子值得花這個時間？五個理由。」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III · 為什麼工作坊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理由 1 · 教就是最好的學習，做比學更重要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把納瓦爾做出來、講出去、教下去，才是真內化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你坐著聽留下 5%；動手做留下 75%；教給別人留下 90%。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這場不是要你「學會」納瓦爾，是要你把它做出來、講出去、教下去。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引言：《學記》「教學相長」· Seneca「Docendo discimus（我們在教中學習）」· 納瓦爾推文 32「動手做比看別人做快」。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III · 為什麼工作坊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理由 2 · 落地落實到保險業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納瓦爾講的是「無需許可的槓桿」，每條都鉤回保險增員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納瓦爾講的不是矽谷科技，是「無需許可的槓桿」。寫一篇文章、開一場小講座、做一集 Podcast、經營一個 LINE 群——全是你睡覺時替你工作的媒體槓桿。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理論不落地等於沒學，這場每一條都鉤回增員、開發、帶人。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引言：推文 25「程式與媒體是不需許可的槓桿，是新富階級背後的祕密」。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III · 為什麼工作坊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理由 3 · 與客戶有了深度談資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用納瓦爾的財富觀對話，從「賣保險的」升級成「值得請教的人」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高端客戶買的不是保單，是「跟你聊得來」。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當你能用納瓦爾財富觀、致富心態睡眠測試、底層邏輯成功公式跟客戶對話，你就從「賣保險的」升級成「值得請教的人」。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39 條金句＋七本經典，就是你的談資彈藥庫。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III · 為什麼工作坊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理由 4 · 個人成長：把自己活成品牌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把「你自己」變成市場上唯一的產品，一套會複利的人生作業系統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50 歲後，勞動槓桿（管人）的痛苦邊際成本越來越高。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真正的成長來自把「你自己」變成市場上唯一的產品。這場給的不是話術，是一套會自己複利下去的人生作業系統。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引言：推文 8「人生所有回報——財富、關係、知識——都來自複利」。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III · 為什麼工作坊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理由 5 · 看我表演，比較沒有壓力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扛霸子先示範把自己商品化，學員零壓力觀摩，先看戲再上場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增員最難的不是話術，是「開口」。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讓扛霸子先示範一次——在台上把自己商品化的過程演一遍，學員在台下零壓力觀摩。看懂了，再帶回團隊照著做。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最高級的增員，是讓優秀的人「想跟你」——你先活成那個範本。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III · 為什麼工作坊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工作坊 vs 讀書會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產出、比例、結束後三個面向，工作坊都讓你「當場帶走」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產出：讀書會＝筆記、心得、感動三天；工作坊＝一張個人定位圖＋一套增員系統，當場帶走。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比例：讀書會＝講師講 80%；工作坊＝3-7-3：30% 理論＋70% 實戰＋3 個結論。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結束後：讀書會＝回到原本日子；工作坊＝21 天行動挑戰＋信物儀式＋追蹤。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PART IV 造運引擎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840480"/>
            <a:ext cx="9235440" cy="914400"/>
          </a:xfrm>
          <a:prstGeom prst="roundRect">
            <a:avLst/>
          </a:prstGeom>
          <a:solidFill>
            <a:srgbClr val="0C3258"/>
          </a:solidFill>
          <a:ln w="1524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406908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E9B627"/>
                </a:solidFill>
                <a:latin typeface="Noto Serif TC"/>
                <a:ea typeface="Noto Serif TC"/>
                <a:cs typeface="Noto Serif TC"/>
              </a:rPr>
              <a:t>幸運不是運氣好，是把行為訓練成性格、把性格活成命運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9834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CCB"/>
                </a:solidFill>
                <a:latin typeface="Noto Sans TC"/>
                <a:ea typeface="Noto Sans TC"/>
                <a:cs typeface="Noto Sans TC"/>
              </a:rPr>
              <a:t>「幸運不是運氣好，是把行為訓練成性格，把性格活成命運。這是主方程式最後那個乘數——也是今天投報率最高的一段。」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造運公式：Λ 怎麼放大時間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Λ 站在指數位置，與時間一起放大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個人商品力 B ＝ ［(獨特性 × 特定知識) × 當責 × 槓桿］^(時間 × 造運引擎 Λ)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納瓦爾給你五元素、教你方向；造運引擎給你 Λ，把幸運放到指數位置跟時間一起放大。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沒有 Λ 的時間＝直線努力；有 Λ 的時間＝指數爆發。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Λ 主公式：加號與乘號的差別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L₀ 用加號（背景常數），U·C·K·R 用乘號（任一為 0 全歸零）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Λ ＝ L₀ ＋ ( U × C × K ) × 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L₀ 用加號：背景常數、與努力無關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U·C·K·R 用乘號：任一為 0、整個 Λ 歸零（短板放大效應）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L.U.C.K. ＋ R：五個可訓練的層次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從不可訓練的盲運氣，一路到主動奔走、敏銳察覺、打造命運、韌性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L₀ 盲運氣：出生條件、剛好上門的客戶——不可訓練，但要承認它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U 主動奔走：製造變異、擴大幸運表面積——業務員都卡在這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C 敏銳察覺：同樣線索別人看不見、你看見——技能疊加＋跨域連結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K 打造命運：機會主動來找你——品格複利、好名聲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R 韌性：遇衝擊不歸零、甚至變更強——反脆弱（R＝0 全部歸零）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五階層走一遍保險生涯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從親友保單到客戶自己上門、撐過崩盤更強，就是 L₀→U→C→K→R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入行第一張保單多是親友（L₀）→ 拚命跑同一棵樹（U）→ 看到別人沒看到的需求（C）→「保險界值得託付的人」客戶自己來（K）→ 撐過市場崩盤反而更強（R）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〔補〕完整版公式：六位大師合體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六位大師各補強一個變數，組成繁中第一套造運引擎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Λ ＝ L₀ ＋ (U_Base ＋ U_Swan) × C × K × 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L₀ 盲運氣（Naval L1）｜U_Base 行動量（Naval L2＋Roberts 表面積＋Taleb 80% 底盤）｜U_Swan 獵黑天鵝（Taleb 20%）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C 察覺（Naval L3＋Scott Adams 技能疊加）｜K 磁力（Naval L4＋Housel 品格複利）｜R 韌性（Collins＋Wiseman＋Taleb 反脆弱）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〔補〕四種幸運深解 · L1 矇到的運氣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L1 不能練，但要承認它的存在——對成功謙卑、對失敗自尊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Naval 把 L1 列出來，不是要你練它，是要你承認它存在。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「對成功的人保持謙卑（你有一部分是 L1）；對失敗的人保持自尊（你有一部分輸給 L1）；對所有人——把精力放在 L2-L4。」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〔補〕四種幸運深解 · L2 主動奔走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製造變異，但別在同一棵樹上採完蘋果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Naval 比喻：「就像攪拌培養皿，看哪些試劑會互相結合。」本質＝製造能量、製造變異。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陷阱＝純粹蠻幹。蘋果園採光定律：「同一棵樹的蘋果會採完。」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「真正會 L2 的人，不是動得最多——是動得最雜。」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〔補〕四種幸運深解 · L3 敏銳察覺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機會一直都在，只有受過訓練的眼睛能看見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客戶說「公司留不住人才」→ 普通業務員附和；L3 業務員立刻嗅到「企業留才保險／團體年金」商機。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L3 的關鍵＝領域深度＋跨域連結＋安靜觀察。20 歲只能拼 L2，40 歲以上的優勢就在 L3。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〔補〕四種幸運深解 · L4 打造命運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你不再追逐機會，機會主動來找你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深海潛水員比喻：別人發現深海有寶藏（他們的 L1），但進不去，只能找最頂尖的潛水員（你的 L4）。寶藏只能被你撈起，於是分你一半。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「把你的品格建立好，你的品格就會成為你的命運。」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造運四階段：怎麼一層層往上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啟動引擎、安裝導航、打造磁力、加裝防護罩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① 啟動引擎 L→U：別停在等待，開始大量行動、擴大表面積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② 安裝導航 U→C：純勤奮會變瞎忙，用察覺提高轉化率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③ 打造磁力 C→K：把自己產品化，長期＋高品質＋可被發現，讓機會自己上門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④ 加裝防護罩 維持 R&gt;0：反事實思考＋反脆弱結構＋止血機制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22 題造運值測驗：說明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依符合程度選 1～5，22 題分四構面，當場測、約 3 分鐘、不上傳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依符合程度選 1（完全不符合）～ 5（完全符合）。結果只算在你這台裝置、不上傳。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A 機會察覺＝U｜B 直覺＝C｜C 自我實現＝K｜D 韌性＝R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測完拿到造運值、四構面雷達 U/C/K/R 與最弱變數，決定 30 天先補哪一層。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測驗 · A 構面（機會察覺 = U，6 題）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量測你「主動製造變異、擴大幸運表面積」的程度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1. 我經常嘗試不同通勤路線、餐廳、活動，而不是固定走老路。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2. 社交時我會主動跟陌生人或不熟的類型聊天。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3. 即使有明確目標，我也會留意目標之外突然出現的機會。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4. 我相信新體驗（即使看似無用）會帶來意想不到的好處。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5. 我傾向把行事曆留 20% 以上空白，不把自己塞滿。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6. 當有「臨時起意」念頭時，我會跟隨而不是壓抑。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測驗 · B 構面（直覺 = C，5 題）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量測你「把機會看出來」的訊號辨識力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7. 做重要決定時，我會聽從直覺，即使邏輯分析不完全支持。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8. 我有至少一個專精領域，能比一般人看到更多細微訊號。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9. 我會用冥想、散步、寫日記等方式主動培養直覺。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10. 看到一則新聞或對話，我會立刻聯想到與我相關的機會或威脅。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11. 我能區分「直覺」與「焦慮」這兩種看似類似的內在訊號。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測驗 · C 構面（自我實現 = K，6 題）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量測你「立人設、讓機會主動上門」的程度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12. 我相信我想要的未來會發生，並用這個預期指導今天的行動。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13. 我有清楚的「個人定位」，能用一句話讓陌生人記住我。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14. 別人常因我的某個特質或專業主動來找我（而非我去找他們）。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15. 我願意為「長期信任的累積」放棄短期利益。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16. 我有持續的內容輸出（寫作／影片／演講），讓別人能找到我。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17. 過去一年，至少有 3 個機會是「別人主動帶到我面前」。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測驗 · D 構面（韌性 = R，5 題）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量測你「遇衝擊不歸零、會重新框架」的反脆弱力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18. 遇到壞事時，第一反應通常是「這本來可以更糟」而非「真衰」。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19. 從失敗中我能很快找到「至少學到 ____」的觀點。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20. 我相信壞運氣最終會以某種方式變成好的轉折。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21. 我能在情緒低潮時主動使用「重新框架」的工具。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22. 過去一年最大的挫折，我現在能說出 3 個它帶給我的好處。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三種人，30 年後的差距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差距不在五元素（三人都＝2），全在「Λ 怎麼搭配時間」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脆弱型 R＝0：Λ＝…×0＝0；B＝2⁰＝1。一次毀滅性事件全部歸零。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普通型 Λ＝1：基準線；B＝2³⁰≈10 億。線性投入＋時間複利。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反脆弱型 Λ＝1.5：高 U×C×K，R＝1.5；B＝2⁴⁵≈35 兆。領先普通人 35,000 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心法：練 Λ 比練底數重要 10 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多數人花 99% 練底數、1% 練 Λ；該反過來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多數人花 99% 時間練「底數」（讀書、考證、學技能），只花 1% 練 Λ。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練 Λ 比練底數重要 10 倍。巴菲特 99% 財富在 50 歲後——他從 11 歲就在練 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破冰遊戲 1 · 報紙照片實驗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機會一直都在，差別是「察覺機會的頻率」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「數一數這份報紙有幾張照片。」多數人埋頭數——其實第二頁半版印著「別數了，共 43 張」。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Wiseman 實驗：自認倒霉的人花兩分鐘才數完；自認幸運的人幾秒就看到。差別不是眼睛——是幸運的人開著周邊視覺。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破冰遊戲 2 · 磨骰子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幸運不是擲骰子的人，是磨骰子的人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「把 6 那面磨平、其他五面磨成圓弧——擲到 6 變多少？」可能 1/2 甚至更高。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你 25 年累積的專業，就是在磨骰子。你不是改機率，你是改骰子本身。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破冰遊戲 3 · 幸運表面積自評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幸運表面積＝Doing × Telling；99% 保險人只做 Doing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幸運表面積 ＝ Doing × Telling（做了多少 × 讓多少人知道）。乘號——其一為 0，表面積就是 0。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99% 保險人只做 Doing、不做 Telling，埋頭服務但沒人知道「你」是誰。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寫一篇貼文、開一場小講座、做一集 Podcast——這些都是 Telling，是你 Λ 最容易補的那一格。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099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IV · 造運引擎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給扛霸子：增員就是造運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別在 L2 搶同一棵樹，去 L3 開周邊視覺找人，再幫新人長出 L4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增員飽和，是因為你在 L2 跟所有人搶同一棵樹的蘋果。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真正的增員在 L3——開周邊視覺，去別人沒在找的地方（換產業、換場域、原型對話）找人。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而你要幫新人長出 L4 獨特運：當他有了自己的非標品人設，貴人自己上門，他就不會陣亡。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PART V 將自己商品化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840480"/>
            <a:ext cx="9235440" cy="914400"/>
          </a:xfrm>
          <a:prstGeom prst="roundRect">
            <a:avLst/>
          </a:prstGeom>
          <a:solidFill>
            <a:srgbClr val="0C3258"/>
          </a:solidFill>
          <a:ln w="1524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406908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E9B627"/>
                </a:solidFill>
                <a:latin typeface="Noto Serif TC"/>
                <a:ea typeface="Noto Serif TC"/>
                <a:cs typeface="Noto Serif TC"/>
              </a:rPr>
              <a:t>六個模組，把主方程式逐字母裝進你身上——當場產出一份使用說明書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9834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CCB"/>
                </a:solidFill>
                <a:latin typeface="Noto Sans TC"/>
                <a:ea typeface="Noto Sans TC"/>
                <a:cs typeface="Noto Sans TC"/>
              </a:rPr>
              <a:t>六個模組，逐字母把主方程式裝進你身上。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CCB"/>
                </a:solidFill>
                <a:latin typeface="Noto Sans TC"/>
                <a:ea typeface="Noto Sans TC"/>
                <a:cs typeface="Noto Sans TC"/>
              </a:rPr>
              <a:t>這是一份互動工作簿——邊讀公式與出處邊填，最後當場產出一份專屬於你的使用說明書。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六模組總覽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六模組一次看全，每關都對得上 22 位扛霸子的真實痛點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01 診斷（T）｜02 發覺天賦（U·SK）｜03 定位（SK）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04 產品化（L）｜05 增員（A·運，靶心）｜06 永續（T）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點任一模組，看這群扛霸子在這關卡上「實際說的痛點」（課前問卷·匿名）。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MODULE 01 · 診斷｜你為何有錢卻沒了熱情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把中年倦怠變成可拆解的結構問題——向內看儀表板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財富 vs 地位遊戲、四燈號儀表板、內在主權。帶走：四燈號人生儀表板。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學員痛點：負面情緒籠罩／方向完全錯誤太重業務／沒積極往組織發展／公司願景看不到／對熱情淡漠。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〔補〕模組一深講：地位遊戲與認可陷阱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你贏了還焦慮，不是不夠努力，是遊戲設計如此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你過去 20 年贏的多半是「地位遊戲」（增員王、業績冠軍、晉升、MDRT）。地位遊戲本質是「永遠差一步被拉下王座」。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認可陷阱＝把自我價值外包給「忌妒你的人的眼光」。真正的自由＝把價值來源從「地位」轉成「貢獻感」。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熱情枯竭真相：往往不是工作出問題，是「遊戲」歸零。焦慮＝現在的你 − 想成為的你。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信物·小圓鏡：「向外比排名永遠輸；向內看儀表板，才是主權的起點。」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MODULE 02 · 發覺天賦｜找出你的特定知識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挖出別人複製不了的礦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好時光日誌＋AEIOU、三圈交集、唯一性公式。帶走：好時光日誌＋三圈交集圖。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學員痛點：增員意願起不來／增員意願低是主要問題／沒有增員動力／夥伴沒著力點／要找到自己的獨特性。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〔補〕模組二深講：技能疊加＝數學護城河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三個前 25% 技能一疊，競爭者瞬間掉到個位數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特定知識三標準：① 於你像玩、於別人像工作 ② 教不出來 ③ 無法外包。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競爭者數量＝A 人數 × 25% × 25% × 25%。保險專業 × 三鐵自律 × 說書降維 ＝「人生財富鐵人教練」這個 0 競爭者位置。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信物·原礦石／放大鏡：「天賦不是被找到的，是被挖出來、被放大鏡看見的。」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MODULE 03 · 定位｜把天賦嫁接到保險業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把無關的熱情變成 0 競爭者護城河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重新框定、橋接三法、奧德賽三計畫。帶走：奧德賽畫布＋一句話定位。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學員痛點：需要建立個人品牌／把專業變成別人複製不了的獨特／主管跟夥伴不知道要做什麼。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〔補〕模組三深講：橋接三法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把你的天賦翻譯成保險意義，吸引對的客群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三鐵／馬拉松 → 紀律、配速＝長期主義與風險管理 → 吸引企業主、高階主管。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說書／閱讀 → 把硬知識降維、建立「智者」人設 → 吸引愛學習但沒時間的職場菁英。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演講／舞台 → 一對多影響力槓桿（一次教 50 人）→ 吸引准增員、企業客戶。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電梯簡報模板：「我是帶領＿＿跨越＿＿的＿＿。我透過＿＿，幫你把＿＿變成像配速一樣的常識。」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MODULE 04 · 產品化｜漏斗、MVP 與槓桿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停止零售時間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四種槓桿、三層漏斗、30 天 MVP、反脆弱槓鈴。帶走：三層漏斗＋30 天 MVP。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學員痛點：能用人才少、什麼都自己來／要複製成功系統／像消防隊一直救火／總公司任務需親自操刀／訓練資源薄弱／還沒有源源不絕名單。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〔補〕模組四深講：三層漏斗＋創業數學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用認知進化把成功成本減半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三層漏斗：前端引流（免費媒體，例 Podcast/IG 只談認知不談保險）→ 中端信任（500 元工作坊篩名單）→ 後端變現（客戶＝護城河；增員＝一人公司孵化）。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反脆弱槓鈴：一端保住正職現金流，一端用業餘玩高潛力個人品牌實驗，放棄中間溫水煮青蛙。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創業成功率：基礎 20% 不學習要 21 次才達 99%；靠認知進化只需 10 次——把成功成本減半。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MODULE 05 · 增員（靶心）｜把個人商品變造星系統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本場核心——學員痛點最多的一關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四種幸運、心流破冰面試、准增員 IP 卡、永久遊戲選人。帶走：心流破冰面試＋IP 訂製卡。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學員痛點：增員意識及做法不足／最希望動起來的是增員／增員最卡意願低／組織發展使不上力單位人少／中階主管不增員／業務夥伴太被動。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〔補〕模組五深講：造星增員 vs 傳統增員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傳統是把人塞進「我的」系統；造星是用我的系統幫他長出「他的」商品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傳統增員＝加法（勞動槓桿，痛苦高流失）；造星增員＝乘法。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話術升級：從「你想不想賺大錢？」進化成「我幫你打造『你的』一人公司」。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選人篩選器＝高智慧 × 高能量 × 高正直（正直最重要）；信任是最便宜的成本。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〔補〕模組五 · 三世代增員提案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對 Z 世代、三明治世代、中年高管，各有一句鉤子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Z 世代（25–30，討厭打卡）：「不要來賣保險，來打造你的一人公司——用保險當變現引擎。」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三明治世代（35–45，失去自我）：「先不談業績，先做你的好時光日誌與奧德賽計畫。」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中年轉職／高管（45＋，追求意義）：「上半場為公司賣命，下半場為自己的人生發聲。」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〔補〕模組五 · 心流破冰面試（可立刻用）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全程不准談佣金、不准談公司多好，只能挖對方的心流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開場：「先別管保險。回顧過去一個月，寫下『讓你精力耗盡的 3 件事』和『讓你忘記時間、充滿能量的 3 件事』。」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切入：「你現在的環境正在扼殺你的天賦。如果有個平台，能讓你的收入直接跟『你解決別人問題的價值』掛鉤，你願意了解嗎？」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信物·「獨」字印章：「以你的真名承擔，社會就用責任、股權與槓桿回報你。」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MODULE 06 · 永續｜當責、複利與內在主權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封印整條公式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Enough Line、慾望合約撕毀、主權誓言。帶走：Enough Line＋主權誓言卡。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學員痛點：大家太安逸沒晉升念頭／自信不足、不夠自律／怕當主管覺得很忙／目標不清沒著力點／晉升速度慢／把健康放十年後。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〔補〕模組六深講：你正站在奇異點上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前 25 年的聲譽複利，正要開始指數兌現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當責·把臉露出來：你已有真名、18 年信譽——這是新人沒有的巨大資產，別再躲在公司招牌後面。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「你不是太晚，你正好站在奇異點上。」從 Manager 變 Mentor，流體智力→晶體智力。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儀式·慾望合約撕毀：寫下「我得到它之前，都不准自己快樂」的東西，大聲念出後當眾撕掉——把快樂的主權收回來。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信物·小沙漏：「跟長期的人，玩長期的遊戲。時間，站在邏輯正確的人這一邊。」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互動工作簿（掃 QR 當場填）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邊讀邊填，當場自動產出你的定位與漏斗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完整互動版可自動存檔、即時組成你的定位與漏斗，並產出 PDF 帶走。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互動工作簿 → webapp/index.html　｜　線上版 → https://lawsuger.github.io/naval-pm-workshop/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模組五 · 保險業實戰三痛點（扛霸子親授段）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全場含金量最高、最無法被複製的 15 分鐘，三層內容 AI 不代寫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骨架由系統搭好，三層具體內容（真實案例／你的判斷／給扛霸子的建議）預留給你親自上場，AI 不代寫。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三張卡＝增員難＋組織停滯／市場飽和／帶人管理。卡內虛線區＝你親授段預留。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痛點 1 · 增員難＋組織停滯〔親填留白〕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開出下週第一句增員對話（AI 不代寫）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⚠️ 預留親填：真實案例／你的判斷／下週怎麼開第一句增員對話。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對應學員原話：增員意識做法不足／最希望動起來是增員／增員最卡意願低／沒增員動力／組織發展使不上力／中階主管不增員。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痛點 2 · 市場飽和〔親填留白〕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用資產配置重開需求、致富心態框架切高端（AI 不代寫）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⚠️ 預留親填：用資產配置重開需求／致富心態框架切高端。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對應學員原話（多數人業務端已順，少數提此）：夥伴太被動／組織增員使不上力／還沒有源源不絕名單。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 · 將自己商品化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痛點 3 · 帶人管理〔親填留白〕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20 歲衝刺 vs 50 歲複利，分齡設計領先指標（AI 不代寫）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⚠️ 預留親填：20 歲衝刺 vs 50 歲複利／分齡設計領先指標。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對應學員原話：主管格局還沒到位／主管夥伴不知做什麼晉升慢／定著率不夠／夥伴能力問題多／當主管很忙讓人害怕。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VI · 顧問團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PART VI 結業 ＋ AI 顧問團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840480"/>
            <a:ext cx="9235440" cy="914400"/>
          </a:xfrm>
          <a:prstGeom prst="roundRect">
            <a:avLst/>
          </a:prstGeom>
          <a:solidFill>
            <a:srgbClr val="0C3258"/>
          </a:solidFill>
          <a:ln w="1524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406908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E9B627"/>
                </a:solidFill>
                <a:latin typeface="Noto Serif TC"/>
                <a:ea typeface="Noto Serif TC"/>
                <a:cs typeface="Noto Serif TC"/>
              </a:rPr>
              <a:t>今天不是結束，是你跟自己簽的「長期合約」第一天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9834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EBCCB"/>
                </a:solidFill>
                <a:latin typeface="Noto Sans TC"/>
                <a:ea typeface="Noto Sans TC"/>
                <a:cs typeface="Noto Sans TC"/>
              </a:rPr>
              <a:t>把六枚信物收齊，拼出完整的主方程式——然後，把顧問團帶回家。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VI · 顧問團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回到主方程式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六模組六字母全打勾，換一張個人商品化護照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個人商品力 ＝ ［ ( 獨特性 × 特定知識 ) × 當責 × 槓桿 ］^（時間複利 × 造運引擎）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六模組六字母全部打勾。六枚信物收齊，換一張「個人商品化護照」。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VI · 顧問團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六枚信物 = 一條公式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每枚信物封存一個模組的一句話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① 診斷｜小圓鏡｜向內看儀表板，才是主權的起點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② 發覺天賦｜原礦石／放大鏡｜天賦是挖出來、被放大鏡看見的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③ 定位｜小羅盤｜方向是設計出來的，可有三個指北針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④ 產品化｜槓桿積木／滑輪｜找到支點，一個人撬動整個地球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⑤ 增員｜「獨」字印章｜真名承擔，社會用槓桿回報你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⑥ 永續｜小沙漏｜跟長期的人，玩長期的遊戲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VI · 顧問團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主權誓言（逐字宣讀）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我是我內在基礎建設的唯一建築師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我是我內在基礎建設的唯一建築師。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我拒絕再為了追逐地位，簽下任何讓自己不快樂的合約。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我只把情緒與財務的資本，投注在我能控制的事情上。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我用「貢獻」定義我的價值，不再活在忌妒者的眼光裡。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我是格網思維的學生，也是我自己時間的主人。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VI · 顧問團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AI 顧問團（帶回家）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把納瓦爾、生命設計師、斯多葛變成隨時對話的隨身顧問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召喚你的隨身顧問團：把納瓦爾、生命設計師、斯多葛……變成可隨時對話的顧問。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思想家顧問團 → https://thinker-advisory-panel.onrender.com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備註：Render 免費版閒置會休眠，開場前先開一次喚醒（約十幾秒）。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PART VI · 顧問團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最後一步 · 課後回饋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3 分鐘回饋，直接變成下一場的養分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花 3 分鐘，告訴我們這場哪裡好、哪裡可以更好——你的回饋會直接變成下一場的養分。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填寫課後回饋 → ./post-survey/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🔥 21 天挑戰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21 天行動挑戰（三階段總覽）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每天 30 分鐘，三週對應公式三大核心，進度自動存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三階段把自己產品化：第一週挖掘特定知識，第二週建立當責，第三週啟動槓桿。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每天 30 分鐘，點一下打勾，進度自動存。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🔥 21 天挑戰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DAY 1–7 · 挖掘特定知識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找到不可替代性，輸出特定知識宣言 500 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列出 10 件做起來像在玩的事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畫出三圈交集圖：興趣 × 優勢 × 市場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寫出你的底層邏輯公式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訪問 3 位朋友：你最擅長什麼？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定義一句話定位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研究 3 位榜樣如何把自己產品化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📝 輸出：特定知識宣言 500 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🔥 21 天挑戰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DAY 8–14 · 打造當責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在自己名字下承擔風險，輸出 90 天承諾書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建立品牌識別（名字／Logo／色調）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選一個平台發布第一篇公開內容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你敢對哪件事負全責？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建立個人資產負債表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設計 MVP 雛形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找到一位當責夥伴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📝 輸出：90 天承諾書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🔥 21 天挑戰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DAY 15–21 · 啟動槓桿系統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讓系統為你工作，輸出個人產品化藍圖 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盤點三種槓桿：程式碼／媒體／資本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設計內容系統化流程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建立自動化工具鏈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反過來想：什麼會讓你失敗？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設計你的時間投資組合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建立數位工具槓桿清單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10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📝 輸出：個人產品化藍圖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🔥 21 天挑戰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每天 30 分鐘的複利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21 天後你將擁有一份完整的個人產品化藍圖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每天 30 分鐘，21 天後你將擁有一份完整的個人產品化藍圖。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⏳ 時間槓桿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時間槓桿：方向 &gt; 速度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時間是最被低估的槓桿；正確方向 ＋ 持續行動 ＝ 指數增長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「時間是最被低估的槓桿。正確的方向 ＋ 持續的行動 ＝ 指數增長。」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⏳ 時間槓桿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37.78× 複利矩陣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每天進步 1%，一年後就是 37.78 倍——方向大於速度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每天進步 1%，一年後的你＝1.01³⁶⁵ ≈ 37.78 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方向 &gt; 速度 — Naval 核心法則。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⏳ 時間槓桿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時間投資組合矩陣（四象限）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用「判斷力 × 複利」分配時間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💎 高價值 × 長期：專屬知識、個人品牌、深度閱讀、關係經營 → 投入 50%+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⚡ 高價值 × 短期：專案交付、客戶服務、緊急重要 → 投入 30%，並建立系統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🔄 低價值 × 長期：無目標社群瀏覽、低效會議 → 果斷刪除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🗑️ 低價值 × 短期：無意義爭論、完美主義陷阱 → 自動化或外包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⏳ 時間槓桿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時間槓桿三層思考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判斷力選對方向、系統化讓每分鐘複利、耐心等指數轉折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判斷力 — 選對方向：「反過來想，先問『什麼會導致失敗』。」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系統化 — 每分鐘複利：「寫一篇文章是線性；建立一套寫作系統是指數。」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耐心 — 等指數轉折：「哪件事，十年後回頭看絕對值得？」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📚 圖書館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圖書館總覽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工作坊參考的全部書單——23 本經典、四大類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四大類：核心底座／財富心態·FIRE／學習·判斷·心態／造運·韌性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每本附書、YouTube、Podcast、網頁等延伸資源。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📚 圖書館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核心底座（1/2）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主方程式的源頭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📘《納瓦爾寶典》Eric Jorgenson — 主方程式源頭，財富與幸福兩大主軸、HTGR 39 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📗《做自己的生命設計師》Bill Burnett &amp; Dave Evans — 人生儀表板、好時光日誌、奧德賽計畫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📕《致富心態》Morgan Housel — 睡眠測試、Enough Line、長尾效應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📙《底層邏輯》劉潤 — 個人價值＝能力×效率×槓桿；創業成功率公式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📚 圖書館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核心底座（2/2）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把創業設計成損失有底、收益無頂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📒《低風險創業》樊登 — 反脆弱 × 槓鈴 × MVP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📔《一人公司》Paul Jarvis — 與其更大、不如更好；設定營收上限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📓《反脆弱》Nassim Taleb — 槓鈴策略、Skin in the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📚 圖書館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財富心態 · FIRE（1/2）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被動收入 &gt; 生活支出才是真財富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💵《簡單致富》JL Collins — 高儲蓄率＋指數投資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⏳《別把你的錢留到死》Bill Perkins — Die with Zero，淨值歸零、回憶最大化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📈《持續買進》Nick Maggiulli — 定期投資勝過擇時，複利核心是紀律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📚 圖書館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財富心態 · FIRE（2/2）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歷史教你什麼永遠不變，年輕時的時間最值錢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🔁《一如既往》Morgan Housel — 歷史最好的教訓，是告訴你什麼永遠不會改變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🎓《蓋洛威教授的人生財富課》Scott Galloway — 財務自由＝被動收入 &gt; 燒錢率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📚 圖書館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學習 · 判斷 · 心態（1/2）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反過來想、成長心態、五個水桶、刻意練習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🧠《窮查理的普通常識》Charlie Munger — 反過來想；80-90 個跨學科思維模型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🌱《心態致勝》Carol Dweck — 成長心態 vs 固定心態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📔《執行長日記》Steven Bartlett — 五個水桶：知識／技能／人脈／資源／聲望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🎯《刻意練習》Anders Ericsson — 能標準化訓練的就能被取代；心智表徵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📚 圖書館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學習 · 判斷 · 心態（2/2）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深度工作、每天 1%、心流、把工作變玩樂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🛠《深度工作力》Cal Newport — 在無干擾下開發稀有而有價值的能力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⚛️《原子習慣》James Clear — 每天 1% 複利；身份認同與環境設計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🌊《心流》Mihaly Csikszentmihalyi — 能力與挑戰相匹配時的忘我狀態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⚡《高效原力》Ali Abdaal — 把工作變得像玩樂；媒體槓桿放大判斷力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📚 圖書館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造運 · 韌性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造運是科學——製造變異、痛苦＋反思＝進步、技能疊加成唯一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🍀《幸運的配方》Richard Wiseman — 四大幸運行為原則、報紙照片實驗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📐《原則》Ray Dalio — 痛苦＋反思＝進步；找對的人比做什麼事更重要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🦅《人生勝利聖經》Scott Adams — 技能疊加 Talent Stack：2-3 個前 25% 相疊＝唯一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📋 使用手冊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使用手冊：個人產品化行動清單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四階段 checklist，把工作坊的覺察變成落地動作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4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逐一完成，把覺察變成真正落地的動作。進度自動存在這台裝置。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📋 使用手冊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階段一 · 挖掘特定知識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找出「做什麼像在玩」的特定知識，寫出一句話定位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完成「做什麼像在玩」探索清單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畫出興趣 × 優勢 × 市場三圈交集圖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寫出一句話定位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確認你的底層邏輯公式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完成 500 字特定知識宣言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📋 使用手冊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階段二 · 打造當責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建立個人品牌與當責機制，公開承諾、做出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建立個人品牌識別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發布第一篇公開內容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建立個人資產負債表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公開 90 天目標承諾書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找到一位當責夥伴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設計 MVP 雛形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📋 使用手冊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階段三 · 啟動槓桿放大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盤點槓桿、系統化內容、自動化工具鏈，完成產品化藍圖 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盤點三種槓桿工具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建立內容系統化流程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設置自動化工具鏈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完成「反過來想」失敗清單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設計時間投資組合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完成個人產品化藍圖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502920" cy="64008"/>
          </a:xfrm>
          <a:prstGeom prst="rect">
            <a:avLst/>
          </a:prstGeom>
          <a:solidFill>
            <a:srgbClr val="E9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9B627"/>
                </a:solidFill>
                <a:latin typeface="Playfair Display"/>
                <a:ea typeface="Playfair Display"/>
                <a:cs typeface="Playfair Display"/>
              </a:rPr>
              <a:t>📋 使用手冊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貫穿全程 · 時間複利心態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713232"/>
          </a:xfrm>
          <a:prstGeom prst="roundRect">
            <a:avLst/>
          </a:prstGeom>
          <a:solidFill>
            <a:srgbClr val="06243F"/>
          </a:solidFill>
          <a:ln w="13970">
            <a:solidFill>
              <a:srgbClr val="B98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8A16"/>
                </a:solidFill>
                <a:latin typeface="Playfair Display"/>
                <a:ea typeface="Playfair Display"/>
                <a:cs typeface="Playfair Display"/>
              </a:rPr>
              <a:t>重點　</a:t>
            </a:r>
            <a:r>
              <a:rPr sz="1550" b="1" i="0">
                <a:solidFill>
                  <a:srgbClr val="F4D76A"/>
                </a:solidFill>
                <a:latin typeface="Noto Serif TC"/>
                <a:ea typeface="Noto Serif TC"/>
                <a:cs typeface="Noto Serif TC"/>
              </a:rPr>
              <a:t>選定十年賽道、每日 1% 追蹤、守住能力圈、長期主義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確認你的十年賽道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建立每日 1% 追蹤系統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定義你的能力圈邊界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建立月度回顧機制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B627"/>
                </a:solidFill>
                <a:latin typeface="Noto Sans TC"/>
                <a:ea typeface="Noto Sans TC"/>
                <a:cs typeface="Noto Sans TC"/>
              </a:rPr>
              <a:t>▸ </a:t>
            </a:r>
            <a:r>
              <a:rPr sz="1250" b="0" i="0">
                <a:solidFill>
                  <a:srgbClr val="F1EAD9"/>
                </a:solidFill>
                <a:latin typeface="Noto Sans TC"/>
                <a:ea typeface="Noto Sans TC"/>
                <a:cs typeface="Noto Sans TC"/>
              </a:rPr>
              <a:t>□ 找到一個長期主義者社群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E93A8"/>
                </a:solidFill>
                <a:latin typeface="Noto Sans TC"/>
                <a:ea typeface="Noto Sans TC"/>
                <a:cs typeface="Noto Sans TC"/>
              </a:rPr>
              <a:t>納瓦爾工作坊 · 將個人商品化 · 給扛霸子的致富之道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E93A8"/>
                </a:solidFill>
                <a:latin typeface="Playfair Display"/>
                <a:ea typeface="Playfair Display"/>
                <a:cs typeface="Playfair Display"/>
              </a:rPr>
              <a:t>149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